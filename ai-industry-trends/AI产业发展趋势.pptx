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1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2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52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3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3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4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4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4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04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5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55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06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08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8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58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09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0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60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1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711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2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762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2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812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3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863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914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5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965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6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1016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66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1066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17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1117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68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1168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219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1219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70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1270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20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1320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371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1371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422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0" y="1422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473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1473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524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1524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574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1574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625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0" y="1625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676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1676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727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0" y="1727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778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0" y="1778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828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0" y="1828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879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1879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930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0" y="1930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981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0" y="1981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97280" y="12801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5AC4"/>
                </a:solidFill>
                <a:latin typeface="Consolas"/>
              </a:defRPr>
            </a:pPr>
            <a:r>
              <a:t>◆ AI INFRASTRUCTURE · 2026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7280" y="1920240"/>
            <a:ext cx="9601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400" b="1">
                <a:solidFill>
                  <a:srgbClr val="0A1E46"/>
                </a:solidFill>
                <a:latin typeface="Arial"/>
              </a:defRPr>
            </a:pPr>
            <a:r>
              <a:t>AI 产业发展趋势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97280" y="2926080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0">
                <a:solidFill>
                  <a:srgbClr val="1E5AC4"/>
                </a:solidFill>
                <a:latin typeface="Arial"/>
              </a:defRPr>
            </a:pPr>
            <a:r>
              <a:t>从算力到互联的硬科技革命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7280" y="3931920"/>
            <a:ext cx="8229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A4A6A"/>
                </a:solidFill>
                <a:latin typeface="Arial"/>
              </a:defRPr>
            </a:pPr>
            <a:r>
              <a:t>CPU · GPU · 光模块 · PCB · 存储 · 互联 · 散热 —— 拆解 AI 基础设施的每一个关键环节，看清技术演进与投资脉络。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97280" y="49377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090A8"/>
                </a:solidFill>
                <a:latin typeface="Consolas"/>
              </a:defRPr>
            </a:pPr>
            <a:r>
              <a:t>2026 年 6 月    |    AI 产业研究团队    |    ~30 min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45775" y="63093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090A8"/>
                </a:solidFill>
                <a:latin typeface="Consolas"/>
              </a:defRPr>
            </a:pPr>
            <a: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5AC4"/>
                </a:solidFill>
                <a:latin typeface="Consolas"/>
              </a:defRPr>
            </a:pPr>
            <a:r>
              <a:t>#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200" b="1">
                <a:solidFill>
                  <a:srgbClr val="0A1E46"/>
                </a:solidFill>
                <a:latin typeface="Arial"/>
              </a:defRPr>
            </a:pPr>
            <a:r>
              <a:t>今天的内容路线图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103120"/>
            <a:ext cx="4754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240280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E5AC4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2860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1E46"/>
                </a:solidFill>
                <a:latin typeface="Arial"/>
              </a:defRPr>
            </a:pPr>
            <a:r>
              <a:t>CPU：算力基石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304288"/>
            <a:ext cx="914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8090A8"/>
                </a:solidFill>
                <a:latin typeface="Consolas"/>
              </a:defRPr>
            </a:pPr>
            <a:r>
              <a:t>~3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103120"/>
            <a:ext cx="4754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240280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E5AC4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2860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1E46"/>
                </a:solidFill>
                <a:latin typeface="Arial"/>
              </a:defRPr>
            </a:pPr>
            <a:r>
              <a:t>GPU：训练与推理引擎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304288"/>
            <a:ext cx="914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8090A8"/>
                </a:solidFill>
                <a:latin typeface="Consolas"/>
              </a:defRPr>
            </a:pPr>
            <a:r>
              <a:t>~3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063239"/>
            <a:ext cx="4754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200399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E5AC4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246119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1E46"/>
                </a:solidFill>
                <a:latin typeface="Arial"/>
              </a:defRPr>
            </a:pPr>
            <a:r>
              <a:t>光模块：数据洪流通道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264407"/>
            <a:ext cx="914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8090A8"/>
                </a:solidFill>
                <a:latin typeface="Consolas"/>
              </a:defRPr>
            </a:pPr>
            <a:r>
              <a:t>~3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063239"/>
            <a:ext cx="4754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200399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E5AC4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246119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1E46"/>
                </a:solidFill>
                <a:latin typeface="Arial"/>
              </a:defRPr>
            </a:pPr>
            <a:r>
              <a:t>PCB：高速信号载体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264407"/>
            <a:ext cx="914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8090A8"/>
                </a:solidFill>
                <a:latin typeface="Consolas"/>
              </a:defRPr>
            </a:pPr>
            <a:r>
              <a:t>~2 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023360"/>
            <a:ext cx="4754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160520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E5AC4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2062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1E46"/>
                </a:solidFill>
                <a:latin typeface="Arial"/>
              </a:defRPr>
            </a:pPr>
            <a:r>
              <a:t>存储：大模型记忆基石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224528"/>
            <a:ext cx="914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8090A8"/>
                </a:solidFill>
                <a:latin typeface="Consolas"/>
              </a:defRPr>
            </a:pPr>
            <a:r>
              <a:t>~3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023360"/>
            <a:ext cx="4754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160520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E5AC4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2062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1E46"/>
                </a:solidFill>
                <a:latin typeface="Arial"/>
              </a:defRPr>
            </a:pPr>
            <a:r>
              <a:t>互联与网络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224528"/>
            <a:ext cx="914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8090A8"/>
                </a:solidFill>
                <a:latin typeface="Consolas"/>
              </a:defRPr>
            </a:pPr>
            <a:r>
              <a:t>~2 min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4983480"/>
            <a:ext cx="4754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5880" y="5120640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E5AC4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16636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1E46"/>
                </a:solidFill>
                <a:latin typeface="Arial"/>
              </a:defRPr>
            </a:pPr>
            <a:r>
              <a:t>散热与能效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184648"/>
            <a:ext cx="914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8090A8"/>
                </a:solidFill>
                <a:latin typeface="Consolas"/>
              </a:defRPr>
            </a:pPr>
            <a:r>
              <a:t>~2 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983480"/>
            <a:ext cx="4754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120640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E5AC4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516636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1E46"/>
                </a:solidFill>
                <a:latin typeface="Arial"/>
              </a:defRPr>
            </a:pPr>
            <a:r>
              <a:t>市场格局与展望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5184648"/>
            <a:ext cx="914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8090A8"/>
                </a:solidFill>
                <a:latin typeface="Consolas"/>
              </a:defRPr>
            </a:pPr>
            <a:r>
              <a:t>~4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45775" y="63093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090A8"/>
                </a:solidFill>
                <a:latin typeface="Consolas"/>
              </a:defRPr>
            </a:pPr>
            <a: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1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2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52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3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3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4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4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4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04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5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55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06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08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8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58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09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0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60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1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711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2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762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2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812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3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863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914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5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965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6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1016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66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1066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17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1117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68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1168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219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1219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70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1270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20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1320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371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1371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422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0" y="1422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473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1473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524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1524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574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1574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625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0" y="1625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676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1676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727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0" y="1727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778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0" y="1778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828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0" y="1828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879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1879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930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0" y="1930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981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0" y="1981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4400" y="457200"/>
            <a:ext cx="10362895" cy="3200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0" b="1">
                <a:solidFill>
                  <a:srgbClr val="E8ECF2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7280" y="2011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5AC4"/>
                </a:solidFill>
                <a:latin typeface="Consolas"/>
              </a:defRPr>
            </a:pPr>
            <a:r>
              <a:t>CHAPTER 01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97280" y="256032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0A1E46"/>
                </a:solidFill>
                <a:latin typeface="Arial"/>
              </a:defRPr>
            </a:pPr>
            <a:r>
              <a:t>CPU：算力基石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7280" y="34747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A4A6A"/>
                </a:solidFill>
                <a:latin typeface="Arial"/>
              </a:defRPr>
            </a:pPr>
            <a:r>
              <a:t>从通用计算到 AI 专用 —— 服务器 CPU 的新战场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97280" y="3291840"/>
            <a:ext cx="1371600" cy="50800"/>
          </a:xfrm>
          <a:prstGeom prst="rect">
            <a:avLst/>
          </a:prstGeom>
          <a:solidFill>
            <a:srgbClr val="1E5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545775" y="63093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090A8"/>
                </a:solidFill>
                <a:latin typeface="Consolas"/>
              </a:defRPr>
            </a:pPr>
            <a: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5AC4"/>
                </a:solidFill>
                <a:latin typeface="Consolas"/>
              </a:defRPr>
            </a:pPr>
            <a:r>
              <a:t># CPU · 算力基石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A1E46"/>
                </a:solidFill>
                <a:latin typeface="Arial"/>
              </a:defRPr>
            </a:pPr>
            <a:r>
              <a:t>x86 与 ARM 两强争霸，AI 专用加速单元成为标配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324612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2697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🔵 Intel Xeon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26974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Granite Rapids · 最多 128 核 · 内置 AMX 矩阵引擎，BF16/INT8 推理加速。单路 12 通道 DDR5，PCIe 5.0 × 88 lane。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5AC4"/>
                </a:solidFill>
                <a:latin typeface="Consolas"/>
              </a:defRPr>
            </a:pPr>
            <a:r>
              <a:t>AMX · 2048-bit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2103120"/>
            <a:ext cx="324612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286000"/>
            <a:ext cx="2697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🔴 AMD EPYC 9005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743200"/>
            <a:ext cx="26974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Turin · Zen 5 架构 · 最多 192 核 384 线程 · AVX-512 全吞吐。12 通道 DDR5-6000，CXL 2.0 内存扩展。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4343400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5AC4"/>
                </a:solidFill>
                <a:latin typeface="Consolas"/>
              </a:defRPr>
            </a:pPr>
            <a:r>
              <a:t>192 Cores · 500W TDP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2103120"/>
            <a:ext cx="324612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9" y="2286000"/>
            <a:ext cx="2697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🟢 ARM Neoverse V3 / N3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743200"/>
            <a:ext cx="26974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AWS Graviton4 · NVIDIA Grace · 每瓦性能领先 x86 约 30-50%。AmpereOne 192 核云原生 CPU 已量产。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4343400"/>
            <a:ext cx="2697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5AC4"/>
                </a:solidFill>
                <a:latin typeface="Consolas"/>
              </a:defRPr>
            </a:pPr>
            <a:r>
              <a:t>ARM v9.2 · SVE2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029200"/>
            <a:ext cx="63500" cy="1097280"/>
          </a:xfrm>
          <a:prstGeom prst="rect">
            <a:avLst/>
          </a:prstGeom>
          <a:solidFill>
            <a:srgbClr val="1E5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074920"/>
            <a:ext cx="10287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5AC4"/>
                </a:solidFill>
                <a:latin typeface="Consolas"/>
              </a:defRPr>
            </a:pPr>
            <a:r>
              <a:t>💡 关键趋势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376672"/>
            <a:ext cx="102870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A1E46"/>
                </a:solidFill>
                <a:latin typeface="Arial"/>
              </a:defRPr>
            </a:pPr>
            <a:r>
              <a:t>CPU 不再是「通用计算」的代名词。内置 AI 加速器（AMX、SVE、NPU）正让 CPU 在推理侧重新夺回话语权。ARM 阵营凭借每瓦性能优势在云原生场景加速渗透，x86 以生态和单核峰值守住基本盘。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5775" y="63093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090A8"/>
                </a:solidFill>
                <a:latin typeface="Consolas"/>
              </a:defRPr>
            </a:pPr>
            <a: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1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2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52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3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3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4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4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4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04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5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55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06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08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8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58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09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0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60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1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711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2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762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2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812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3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863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914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5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965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6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1016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66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1066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17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1117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68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1168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219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1219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70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1270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20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1320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371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1371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422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0" y="1422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473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1473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524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1524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574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1574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625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0" y="1625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676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1676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727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0" y="1727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778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0" y="1778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828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0" y="1828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879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1879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930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0" y="1930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981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0" y="1981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4400" y="457200"/>
            <a:ext cx="10362895" cy="3200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0" b="1">
                <a:solidFill>
                  <a:srgbClr val="E8ECF2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7280" y="2011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5AC4"/>
                </a:solidFill>
                <a:latin typeface="Consolas"/>
              </a:defRPr>
            </a:pPr>
            <a:r>
              <a:t>CHAPTER 02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97280" y="256032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0A1E46"/>
                </a:solidFill>
                <a:latin typeface="Arial"/>
              </a:defRPr>
            </a:pPr>
            <a:r>
              <a:t>GPU：训练与推理的算力引擎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7280" y="34747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A4A6A"/>
                </a:solidFill>
                <a:latin typeface="Arial"/>
              </a:defRPr>
            </a:pPr>
            <a:r>
              <a:t>从 Blackwell 到 ASIC —— 算力军备竞赛的核心战场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97280" y="3291840"/>
            <a:ext cx="1371600" cy="50800"/>
          </a:xfrm>
          <a:prstGeom prst="rect">
            <a:avLst/>
          </a:prstGeom>
          <a:solidFill>
            <a:srgbClr val="1E5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545775" y="63093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090A8"/>
                </a:solidFill>
                <a:latin typeface="Consolas"/>
              </a:defRPr>
            </a:pPr>
            <a: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5AC4"/>
                </a:solidFill>
                <a:latin typeface="Consolas"/>
              </a:defRPr>
            </a:pPr>
            <a:r>
              <a:t># GPU · 算力引擎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A1E46"/>
                </a:solidFill>
                <a:latin typeface="Arial"/>
              </a:defRPr>
            </a:pPr>
            <a:r>
              <a:t>Blackwell 领跑，AMD + 自研 ASIC 双线追击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2377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21031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1E5AC4"/>
                </a:solidFill>
                <a:latin typeface="Consolas"/>
              </a:defRPr>
            </a:pPr>
            <a:r>
              <a:t>20K+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90A8"/>
                </a:solidFill>
                <a:latin typeface="Arial"/>
              </a:defRPr>
            </a:pPr>
            <a:r>
              <a:t>B200 FP4 TFLOPS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011680"/>
            <a:ext cx="2377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2103120"/>
            <a:ext cx="21031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0A1E46"/>
                </a:solidFill>
                <a:latin typeface="Consolas"/>
              </a:defRPr>
            </a:pPr>
            <a:r>
              <a:t>8.3K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56032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90A8"/>
                </a:solidFill>
                <a:latin typeface="Arial"/>
              </a:defRPr>
            </a:pPr>
            <a:r>
              <a:t>MI450X FP8 TFLOPS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2377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03120"/>
            <a:ext cx="21031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0A1E46"/>
                </a:solidFill>
                <a:latin typeface="Consolas"/>
              </a:defRPr>
            </a:pPr>
            <a:r>
              <a:t>192 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6032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90A8"/>
                </a:solidFill>
                <a:latin typeface="Arial"/>
              </a:defRPr>
            </a:pPr>
            <a:r>
              <a:t>B200 HBM3e 显存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2011680"/>
            <a:ext cx="2377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2103120"/>
            <a:ext cx="21031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0A1E46"/>
                </a:solidFill>
                <a:latin typeface="Consolas"/>
              </a:defRPr>
            </a:pPr>
            <a:r>
              <a:t>8 TB/s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56032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90A8"/>
                </a:solidFill>
                <a:latin typeface="Arial"/>
              </a:defRPr>
            </a:pPr>
            <a:r>
              <a:t>HBM3e 带宽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14400" y="3291840"/>
          <a:ext cx="103327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217420"/>
                <a:gridCol w="2217420"/>
                <a:gridCol w="2217420"/>
                <a:gridCol w="221742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5AC4"/>
                          </a:solidFill>
                          <a:latin typeface="Consolas"/>
                        </a:defRPr>
                      </a:pP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5AC4"/>
                          </a:solidFill>
                          <a:latin typeface="Consolas"/>
                        </a:defRPr>
                      </a:pPr>
                      <a:r>
                        <a:t>NVIDIA B200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5AC4"/>
                          </a:solidFill>
                          <a:latin typeface="Consolas"/>
                        </a:defRPr>
                      </a:pPr>
                      <a:r>
                        <a:t>AMD MI450X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5AC4"/>
                          </a:solidFill>
                          <a:latin typeface="Consolas"/>
                        </a:defRPr>
                      </a:pPr>
                      <a:r>
                        <a:t>Google TPU v6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5AC4"/>
                          </a:solidFill>
                          <a:latin typeface="Consolas"/>
                        </a:defRPr>
                      </a:pPr>
                      <a:r>
                        <a:t>华为 Ascend 910C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A1E46"/>
                          </a:solidFill>
                          <a:latin typeface="Arial"/>
                        </a:defRPr>
                      </a:pPr>
                      <a:r>
                        <a:t>制程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TSMC 4NP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TSMC N3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TSMC N3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SMIC N+2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A1E46"/>
                          </a:solidFill>
                          <a:latin typeface="Arial"/>
                        </a:defRPr>
                      </a:pPr>
                      <a:r>
                        <a:t>FP16 TFLOPS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4,500 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2,300 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1,800 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800 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A1E46"/>
                          </a:solidFill>
                          <a:latin typeface="Arial"/>
                        </a:defRPr>
                      </a:pPr>
                      <a:r>
                        <a:t>显存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192 GB HBM3e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288 GB HBM3e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96 GB HBM3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128 GB HBM2e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A1E46"/>
                          </a:solidFill>
                          <a:latin typeface="Arial"/>
                        </a:defRPr>
                      </a:pPr>
                      <a:r>
                        <a:t>TDP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1,000W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750W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600W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550W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914400" y="5394960"/>
            <a:ext cx="63500" cy="914400"/>
          </a:xfrm>
          <a:prstGeom prst="rect">
            <a:avLst/>
          </a:prstGeom>
          <a:solidFill>
            <a:srgbClr val="1E5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440680"/>
            <a:ext cx="10287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5AC4"/>
                </a:solidFill>
                <a:latin typeface="Consolas"/>
              </a:defRPr>
            </a:pPr>
            <a:r>
              <a:t>💡 关键趋势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742432"/>
            <a:ext cx="10287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A1E46"/>
                </a:solidFill>
                <a:latin typeface="Arial"/>
              </a:defRPr>
            </a:pPr>
            <a:r>
              <a:t>NVIDIA 以 Blackwell 架构 + NVLink 5 + 液冷整机柜方案建立系统级壁垒。AMD 以更大显存和开放生态（ROCm 6.0）追赶。Google / AWS / Meta 自研 ASIC 推理芯片加速部署。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45775" y="63093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090A8"/>
                </a:solidFill>
                <a:latin typeface="Consolas"/>
              </a:defRPr>
            </a:pPr>
            <a: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1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2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52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3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3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4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4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4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04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5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55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06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08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8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58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09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0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60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1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711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2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762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2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812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3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863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914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5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965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6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1016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66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1066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17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1117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68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1168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219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1219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70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1270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20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1320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371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1371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422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0" y="1422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473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1473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524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1524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574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1574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625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0" y="1625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676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1676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727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0" y="1727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778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0" y="1778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828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0" y="1828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879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1879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930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0" y="1930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981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0" y="1981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4400" y="457200"/>
            <a:ext cx="10362895" cy="3200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0" b="1">
                <a:solidFill>
                  <a:srgbClr val="E8ECF2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7280" y="2011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5AC4"/>
                </a:solidFill>
                <a:latin typeface="Consolas"/>
              </a:defRPr>
            </a:pPr>
            <a:r>
              <a:t>CHAPTER 03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97280" y="256032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0A1E46"/>
                </a:solidFill>
                <a:latin typeface="Arial"/>
              </a:defRPr>
            </a:pPr>
            <a:r>
              <a:t>光模块：数据洪流的「光速」通道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7280" y="34747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A4A6A"/>
                </a:solidFill>
                <a:latin typeface="Arial"/>
              </a:defRPr>
            </a:pPr>
            <a:r>
              <a:t>800G → 1.6T → 3.2T，光电互联的速度革命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97280" y="3291840"/>
            <a:ext cx="1371600" cy="50800"/>
          </a:xfrm>
          <a:prstGeom prst="rect">
            <a:avLst/>
          </a:prstGeom>
          <a:solidFill>
            <a:srgbClr val="1E5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545775" y="63093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090A8"/>
                </a:solidFill>
                <a:latin typeface="Consolas"/>
              </a:defRPr>
            </a:pPr>
            <a: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5AC4"/>
                </a:solidFill>
                <a:latin typeface="Consolas"/>
              </a:defRPr>
            </a:pPr>
            <a:r>
              <a:t># 光模块 · 互联通道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A1E46"/>
                </a:solidFill>
                <a:latin typeface="Arial"/>
              </a:defRPr>
            </a:pPr>
            <a:r>
              <a:t>800G 大规模出货，1.6T 即将商用，硅光技术拐点已至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50292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4480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🔷 800G OSFP / QSFP-DD800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51760"/>
            <a:ext cx="4480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2026 年 AI 训练集群标配。DR8 / FR4 / SR8 多模方案齐全。单模块功耗 ~14W，硅光版本降至 ~10W。主要供应商：中际旭创、Coherent、Finisar。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03320"/>
            <a:ext cx="4480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5AC4"/>
                </a:solidFill>
                <a:latin typeface="Consolas"/>
              </a:defRPr>
            </a:pPr>
            <a:r>
              <a:t>8×100G PAM4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50292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480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🔶 1.6T / 3.2T 下一代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51760"/>
            <a:ext cx="44805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1.6T OSFP-XD 预计 2026H2 量产，200G/lane × 8。CPO（共封装光学）方案将光引擎集成至 Switch ASIC 旁，功耗降低 40%+。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703320"/>
            <a:ext cx="4480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5AC4"/>
                </a:solidFill>
                <a:latin typeface="Consolas"/>
              </a:defRPr>
            </a:pPr>
            <a:r>
              <a:t>200G/lane · CPO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297680"/>
            <a:ext cx="32461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480560"/>
            <a:ext cx="2697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LPO（线性驱动）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937760"/>
            <a:ext cx="2697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去掉 DSP 芯片，功耗降低 50%，延迟 &lt; 5ns。2026 年 800G LPO 开始小批量部署。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4297680"/>
            <a:ext cx="32461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4480560"/>
            <a:ext cx="2697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硅光（SiPh）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4937760"/>
            <a:ext cx="2697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CMOS 工艺兼容，低成本大规模制造。Intel / Ayar Labs / 曦智科技领跑。2027 渗透率预计 &gt; 30%。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4297680"/>
            <a:ext cx="32461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9" y="4480560"/>
            <a:ext cx="2697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薄膜铌酸锂（TFLN）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4937760"/>
            <a:ext cx="2697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超高带宽调制器，200G+ 单波速率关键使能技术。HyperLight / 光库科技布局。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943600"/>
            <a:ext cx="63500" cy="640080"/>
          </a:xfrm>
          <a:prstGeom prst="rect">
            <a:avLst/>
          </a:prstGeom>
          <a:solidFill>
            <a:srgbClr val="1E5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989320"/>
            <a:ext cx="10287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5AC4"/>
                </a:solidFill>
                <a:latin typeface="Consolas"/>
              </a:defRPr>
            </a:pPr>
            <a:r>
              <a:t>💡 关键趋势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6291072"/>
            <a:ext cx="10287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A1E46"/>
                </a:solidFill>
                <a:latin typeface="Arial"/>
              </a:defRPr>
            </a:pPr>
            <a:r>
              <a:t>光模块速率每 2 年翻一番。LPO + 硅光两条技术路线并行演进，产业链话语权向模块厂商和硅光代工厂集中。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45775" y="63093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090A8"/>
                </a:solidFill>
                <a:latin typeface="Consolas"/>
              </a:defRPr>
            </a:pPr>
            <a: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1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2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52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3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3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4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4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4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04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5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55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06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08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8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58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09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0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60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1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711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2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762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2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812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3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863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914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5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965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6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1016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66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1066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17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1117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68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1168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219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1219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70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1270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20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1320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371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1371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422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0" y="1422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473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1473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524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1524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574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1574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625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0" y="1625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676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1676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727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0" y="1727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778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0" y="1778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828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0" y="1828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879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1879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930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0" y="1930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981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0" y="1981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4400" y="457200"/>
            <a:ext cx="10362895" cy="3200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0" b="1">
                <a:solidFill>
                  <a:srgbClr val="E8ECF2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7280" y="2011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5AC4"/>
                </a:solidFill>
                <a:latin typeface="Consolas"/>
              </a:defRPr>
            </a:pPr>
            <a:r>
              <a:t>CHAPTER 04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97280" y="256032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0A1E46"/>
                </a:solidFill>
                <a:latin typeface="Arial"/>
              </a:defRPr>
            </a:pPr>
            <a:r>
              <a:t>PCB：高速信号的高密度载体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7280" y="34747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A4A6A"/>
                </a:solidFill>
                <a:latin typeface="Arial"/>
              </a:defRPr>
            </a:pPr>
            <a:r>
              <a:t>从 M8 到 M9 材料，AI 服务器 PCB 的价值重构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97280" y="3291840"/>
            <a:ext cx="1371600" cy="50800"/>
          </a:xfrm>
          <a:prstGeom prst="rect">
            <a:avLst/>
          </a:prstGeom>
          <a:solidFill>
            <a:srgbClr val="1E5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545775" y="63093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090A8"/>
                </a:solidFill>
                <a:latin typeface="Consolas"/>
              </a:defRPr>
            </a:pPr>
            <a: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5AC4"/>
                </a:solidFill>
                <a:latin typeface="Consolas"/>
              </a:defRPr>
            </a:pPr>
            <a:r>
              <a:t># PCB · 信号载体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A1E46"/>
                </a:solidFill>
                <a:latin typeface="Arial"/>
              </a:defRPr>
            </a:pPr>
            <a:r>
              <a:t>AI 服务器 PCB 四大升级方向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50749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4526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📐 层数升级：从 20L → 30L+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51760"/>
            <a:ext cx="4526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GPU 模组板（UBB）普遍 26-30 层，Switch 背板 34 层+。高层数带来更高的布线密度和更复杂的电源分配网络（PDN）。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520440"/>
            <a:ext cx="4526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5AC4"/>
                </a:solidFill>
                <a:latin typeface="Consolas"/>
              </a:defRPr>
            </a:pPr>
            <a:r>
              <a:t>30L+ · UBB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011680"/>
            <a:ext cx="50749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94560"/>
            <a:ext cx="4526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🔧 材料升级：M7 → M8 → M9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651760"/>
            <a:ext cx="4526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超低损耗 CCL 需求爆发。松下 Megtron 8、台耀 TU-983 为主流方案。M9 级 Df &lt; 0.0015 @ 10GHz。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520440"/>
            <a:ext cx="4526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5AC4"/>
                </a:solidFill>
                <a:latin typeface="Consolas"/>
              </a:defRPr>
            </a:pPr>
            <a:r>
              <a:t>Df &lt; 0.0015 · M9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160520"/>
            <a:ext cx="50749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343400"/>
            <a:ext cx="4526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📏 HDI + Any-Layer 工艺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00600"/>
            <a:ext cx="4526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NVIDIA GB300 NVL72 整机柜采用超大尺寸 HDI 板，单板面积 700×600mm+。Any-Layer 技术从手机走向数据中心。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669280"/>
            <a:ext cx="4526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5AC4"/>
                </a:solidFill>
                <a:latin typeface="Consolas"/>
              </a:defRPr>
            </a:pPr>
            <a:r>
              <a:t>700×600mm · Any-Layer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4160520"/>
            <a:ext cx="507492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343400"/>
            <a:ext cx="4526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💪 供需格局：高端产能紧缺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800600"/>
            <a:ext cx="4526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全球高端 PCB 产能集中在臻鼎、欣兴、Ibiden、三星电机。AI 需求拉动高端 PCB 市场 CAGR 25%+（2024-2030）。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5669280"/>
            <a:ext cx="4526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5AC4"/>
                </a:solidFill>
                <a:latin typeface="Consolas"/>
              </a:defRPr>
            </a:pPr>
            <a:r>
              <a:t>CAGR 25% · 供不应求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45775" y="63093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090A8"/>
                </a:solidFill>
                <a:latin typeface="Consolas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1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2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52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3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3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4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4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4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04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5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55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06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08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8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58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09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0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60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1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711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2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762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2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812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3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863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914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5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965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6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1016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66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1066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17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1117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68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1168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219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1219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70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1270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20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1320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371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1371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422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0" y="1422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473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1473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524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1524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574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1574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625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0" y="1625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676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1676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727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0" y="1727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778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0" y="1778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828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0" y="1828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879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1879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930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0" y="1930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981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0" y="1981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4400" y="457200"/>
            <a:ext cx="10362895" cy="3200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0" b="1">
                <a:solidFill>
                  <a:srgbClr val="E8ECF2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7280" y="2011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5AC4"/>
                </a:solidFill>
                <a:latin typeface="Consolas"/>
              </a:defRPr>
            </a:pPr>
            <a:r>
              <a:t>CHAPTER 05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97280" y="256032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0A1E46"/>
                </a:solidFill>
                <a:latin typeface="Arial"/>
              </a:defRPr>
            </a:pPr>
            <a:r>
              <a:t>存储：大模型的「记忆」基石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7280" y="34747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A4A6A"/>
                </a:solidFill>
                <a:latin typeface="Arial"/>
              </a:defRPr>
            </a:pPr>
            <a:r>
              <a:t>HBM 堆叠竞赛 + NAND 闪存的大容量时代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97280" y="3291840"/>
            <a:ext cx="1371600" cy="50800"/>
          </a:xfrm>
          <a:prstGeom prst="rect">
            <a:avLst/>
          </a:prstGeom>
          <a:solidFill>
            <a:srgbClr val="1E5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545775" y="63093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090A8"/>
                </a:solidFill>
                <a:latin typeface="Consolas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5AC4"/>
                </a:solidFill>
                <a:latin typeface="Consolas"/>
              </a:defRPr>
            </a:pPr>
            <a:r>
              <a:t># 存储 · 记忆基石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A1E46"/>
                </a:solidFill>
                <a:latin typeface="Arial"/>
              </a:defRPr>
            </a:pPr>
            <a:r>
              <a:t>HBM4 即将登场，存内计算从概念走向量产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011680"/>
          <a:ext cx="103327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71700"/>
                <a:gridCol w="2171700"/>
                <a:gridCol w="2171700"/>
                <a:gridCol w="21717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5AC4"/>
                          </a:solidFill>
                          <a:latin typeface="Consolas"/>
                        </a:defRPr>
                      </a:pP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5AC4"/>
                          </a:solidFill>
                          <a:latin typeface="Consolas"/>
                        </a:defRPr>
                      </a:pPr>
                      <a:r>
                        <a:t>HBM3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5AC4"/>
                          </a:solidFill>
                          <a:latin typeface="Consolas"/>
                        </a:defRPr>
                      </a:pPr>
                      <a:r>
                        <a:t>HBM3e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5AC4"/>
                          </a:solidFill>
                          <a:latin typeface="Consolas"/>
                        </a:defRPr>
                      </a:pPr>
                      <a:r>
                        <a:t>HBM4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5AC4"/>
                          </a:solidFill>
                          <a:latin typeface="Consolas"/>
                        </a:defRPr>
                      </a:pPr>
                      <a:r>
                        <a:t>LPDDR5x (边缘)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A1E46"/>
                          </a:solidFill>
                          <a:latin typeface="Arial"/>
                        </a:defRPr>
                      </a:pPr>
                      <a:r>
                        <a:t>单堆容量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24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36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48-64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16-32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A1E46"/>
                          </a:solidFill>
                          <a:latin typeface="Arial"/>
                        </a:defRPr>
                      </a:pPr>
                      <a:r>
                        <a:t>带宽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819 GB/s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1.2 TB/s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1.6-2.0 TB/s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68 GB/s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A1E46"/>
                          </a:solidFill>
                          <a:latin typeface="Arial"/>
                        </a:defRPr>
                      </a:pPr>
                      <a:r>
                        <a:t>堆叠层数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12-Hi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12-Hi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16-Hi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A1E46"/>
                          </a:solidFill>
                          <a:latin typeface="Arial"/>
                        </a:defRPr>
                      </a:pPr>
                      <a:r>
                        <a:t>IO 位宽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1024-bit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1024-bit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2048-bit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64-bit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A1E46"/>
                          </a:solidFill>
                          <a:latin typeface="Arial"/>
                        </a:defRPr>
                      </a:pPr>
                      <a:r>
                        <a:t>主要供应商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SK海力士 / 三星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SK海力士 / 三星 / 美光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SK海力士（先行）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A4A6A"/>
                          </a:solidFill>
                          <a:latin typeface="Arial"/>
                        </a:defRPr>
                      </a:pPr>
                      <a:r>
                        <a:t>三星 / 美光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14400" y="4480560"/>
            <a:ext cx="50292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663440"/>
            <a:ext cx="4480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🔺 HBM 市场格局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120640"/>
            <a:ext cx="4480560" cy="45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SK 海力士以 53% 份额领先（HBM3e 独家供货 NVIDIA），三星 38%，美光 9%。2026 全球 HBM 市场规模预计突破 400 亿美元。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4480560"/>
            <a:ext cx="50292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4663440"/>
            <a:ext cx="4480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🔺 企业级 SSD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5120640"/>
            <a:ext cx="4480560" cy="45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PCIe 5.0 NVMe SSD 单盘 64TB。QLC NAND + 存算一体降低数据搬移能耗。AI 推理缓存池化需求拉动大容量 SSD。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897880"/>
            <a:ext cx="63500" cy="685800"/>
          </a:xfrm>
          <a:prstGeom prst="rect">
            <a:avLst/>
          </a:prstGeom>
          <a:solidFill>
            <a:srgbClr val="1E5A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943600"/>
            <a:ext cx="10287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5AC4"/>
                </a:solidFill>
                <a:latin typeface="Consolas"/>
              </a:defRPr>
            </a:pPr>
            <a:r>
              <a:t>💡 关键趋势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6245352"/>
            <a:ext cx="10287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A1E46"/>
                </a:solidFill>
                <a:latin typeface="Arial"/>
              </a:defRPr>
            </a:pPr>
            <a:r>
              <a:t>HBM 是 GPU 性能释放的最大瓶颈之一。HBM4 通过 2048-bit 位宽和 16-Hi 堆叠将带宽翻倍。PIM（存内计算）让 HBM 不只是「存储」，还能执行矩阵运算。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5775" y="63093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090A8"/>
                </a:solidFill>
                <a:latin typeface="Consolas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5AC4"/>
                </a:solidFill>
                <a:latin typeface="Consolas"/>
              </a:defRPr>
            </a:pPr>
            <a:r>
              <a:t># 散热 · 能效挑战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A1E46"/>
                </a:solidFill>
                <a:latin typeface="Arial"/>
              </a:defRPr>
            </a:pPr>
            <a:r>
              <a:t>单机柜 100kW+ 时代，液冷从「可选项」变成「必选项」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50292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4480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🌡️ 功耗持续攀升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51760"/>
            <a:ext cx="4480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GB300 NVL72 单机柜功耗高达 132kW。B200 单芯片 TDP 1000W，下一代 Rubin 预计 1500W+。传统风冷极限 ~30kW/机柜已被远远超越。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611880"/>
            <a:ext cx="4480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5AC4"/>
                </a:solidFill>
                <a:latin typeface="Consolas"/>
              </a:defRPr>
            </a:pPr>
            <a:r>
              <a:t>132kW/rack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50292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480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💧 液冷三大路线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51760"/>
            <a:ext cx="4480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冷板式：成熟方案，PUE ~1.1，NVL72 标配。浸没式：单相/两相，PUE &lt; 1.05，3M Novec 等氟化液成本仍高。芯片级：微通道直触，台积电 / Cooltera 研发中。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611880"/>
            <a:ext cx="4480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E5AC4"/>
                </a:solidFill>
                <a:latin typeface="Consolas"/>
              </a:defRPr>
            </a:pPr>
            <a:r>
              <a:t>PUE 1.05~1.15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206240"/>
            <a:ext cx="32461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389120"/>
            <a:ext cx="2697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冷板液冷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46320"/>
            <a:ext cx="2697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2026 年 AI 数据中心标配。CDU 单台 1.5MW 散热能力。Vertiv / CoolIT / Boyd 为主要供应商。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4206240"/>
            <a:ext cx="32461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4389120"/>
            <a:ext cx="2697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浸没式液冷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4846320"/>
            <a:ext cx="2697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Tank + 氟化液方案。运维复杂度高，但散热密度极致。阿里 / 微软部分 AI 集群已部署。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4206240"/>
            <a:ext cx="32461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9" y="4389120"/>
            <a:ext cx="2697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液冷产业链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4846320"/>
            <a:ext cx="2697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冷板 → CDU → 液冷管路 → 冷却塔。2026 全球液冷市场 ~120 亿美元（CAGR 35%+）。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5775" y="63093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090A8"/>
                </a:solidFill>
                <a:latin typeface="Consolas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5AC4"/>
                </a:solidFill>
                <a:latin typeface="Consolas"/>
              </a:defRPr>
            </a:pPr>
            <a:r>
              <a:t># 市场 · 投资格局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A1E46"/>
                </a:solidFill>
                <a:latin typeface="Arial"/>
              </a:defRPr>
            </a:pPr>
            <a:r>
              <a:t>2026 年 AI 基础设施市场规模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2377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11680"/>
            <a:ext cx="21031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1E5AC4"/>
                </a:solidFill>
                <a:latin typeface="Consolas"/>
              </a:defRPr>
            </a:pPr>
            <a:r>
              <a:t>$420B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90A8"/>
                </a:solidFill>
                <a:latin typeface="Arial"/>
              </a:defRPr>
            </a:pPr>
            <a:r>
              <a:t>AI 芯片总市场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920240"/>
            <a:ext cx="2377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2011680"/>
            <a:ext cx="21031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0A1E46"/>
                </a:solidFill>
                <a:latin typeface="Consolas"/>
              </a:defRPr>
            </a:pPr>
            <a:r>
              <a:t>$180B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46888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90A8"/>
                </a:solidFill>
                <a:latin typeface="Arial"/>
              </a:defRPr>
            </a:pPr>
            <a:r>
              <a:t>GPU / AI 加速器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20240"/>
            <a:ext cx="2377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11680"/>
            <a:ext cx="21031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0A1E46"/>
                </a:solidFill>
                <a:latin typeface="Consolas"/>
              </a:defRPr>
            </a:pPr>
            <a:r>
              <a:t>$85B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6888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90A8"/>
                </a:solidFill>
                <a:latin typeface="Arial"/>
              </a:defRPr>
            </a:pPr>
            <a:r>
              <a:t>HBM 存储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1920240"/>
            <a:ext cx="2377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2011680"/>
            <a:ext cx="21031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0A1E46"/>
                </a:solidFill>
                <a:latin typeface="Consolas"/>
              </a:defRPr>
            </a:pPr>
            <a:r>
              <a:t>$28B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46888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90A8"/>
                </a:solidFill>
                <a:latin typeface="Arial"/>
              </a:defRPr>
            </a:pPr>
            <a:r>
              <a:t>光模块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291840"/>
            <a:ext cx="324612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474720"/>
            <a:ext cx="2697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🏆 芯片四强格局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931920"/>
            <a:ext cx="2697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NVIDIA 以 ~80% AI GPU 份额绝对领先。AMD 追赶至 ~12%。自研 ASIC（Google TPU / AWS Trainium）合计 ~5%。华为 Ascend 在中国市场份额领先。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3291840"/>
            <a:ext cx="324612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3474720"/>
            <a:ext cx="2697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🌏 国产替代加速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931920"/>
            <a:ext cx="2697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华为 Ascend 910C 量产，寒武纪思元 690 进入数据中心。海光 DCU 兼容 ROCm 生态。中国 AI 芯片自给率 2026 年约 15-20%。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3291840"/>
            <a:ext cx="324612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9" y="3474720"/>
            <a:ext cx="2697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📈 Capex 竞赛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3931920"/>
            <a:ext cx="2697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微软 / 谷歌 / 亚马逊 / Meta 2026 AI Capex 合计超 $300B。xAI Colossus 10 万 GPU 集群已投产，全球 AI 超算竞赛白热化。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45775" y="63093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090A8"/>
                </a:solidFill>
                <a:latin typeface="Consolas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5AC4"/>
                </a:solidFill>
                <a:latin typeface="Consolas"/>
              </a:defRPr>
            </a:pPr>
            <a:r>
              <a:t># 展望 · 趋势总结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A1E46"/>
                </a:solidFill>
                <a:latin typeface="Arial"/>
              </a:defRPr>
            </a:pPr>
            <a:r>
              <a:t>2026-2028：六个确定性趋势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50749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4526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🔺 1. 算力持续翻倍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51760"/>
            <a:ext cx="4526280" cy="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GPU 每 2 年算力翻倍（Blackwell → Rubin → Vera）。ASIC 推理芯片将占推理市场 30%+。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2011680"/>
            <a:ext cx="50749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194560"/>
            <a:ext cx="4526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🔺 2. 互联速率倍增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651760"/>
            <a:ext cx="4526280" cy="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Scale-Up：NVLink 6→7，UBB 2.0。Scale-Out：800G→1.6T→3.2T。CPO 将光引擎集成至交换机芯片，延迟降至 ns 级。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429000"/>
            <a:ext cx="50749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611880"/>
            <a:ext cx="4526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🔺 3. 存储带宽破墙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069080"/>
            <a:ext cx="4526280" cy="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HBM4 → HBM4e，PIM 存内计算普及。CXL 3.0 内存池化打破「内存墙」。QLC NAND 256TB SSD。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429000"/>
            <a:ext cx="50749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611880"/>
            <a:ext cx="4526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🔺 4. 液冷全面渗透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069080"/>
            <a:ext cx="4526280" cy="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2028 年 80%+ 新建 AI DC 采用液冷。PUE 从 1.4 → 1.05。液冷产业链 CAGR 35%+。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846320"/>
            <a:ext cx="50749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029200"/>
            <a:ext cx="4526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🔺 5. 端侧 AI 崛起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486400"/>
            <a:ext cx="4526280" cy="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AI PC（NPU &gt; 40 TOPS）、AI 手机、具身智能（机器人芯片）将创造新增长极。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846320"/>
            <a:ext cx="50749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5029200"/>
            <a:ext cx="4526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0A1E46"/>
                </a:solidFill>
                <a:latin typeface="Arial"/>
              </a:defRPr>
            </a:pPr>
            <a:r>
              <a:t>🔺 6. 地缘重塑供应链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486400"/>
            <a:ext cx="4526280" cy="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A4A6A"/>
                </a:solidFill>
                <a:latin typeface="Arial"/>
              </a:defRPr>
            </a:pPr>
            <a:r>
              <a:t>Chiplet + 先进封装（CoWoS / EMIB）成为「新摩尔定律」。东南亚封装测试产能扩建。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3093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090A8"/>
                </a:solidFill>
                <a:latin typeface="Consolas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1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2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52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3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3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4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4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4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04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5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55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06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08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8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58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09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0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60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1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711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2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762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2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812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3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863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914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5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965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6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1016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66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1066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17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1117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68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1168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219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1219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70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1270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20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1320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371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1371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422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0" y="1422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473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1473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524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1524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574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1574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625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0" y="1625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676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1676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727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0" y="1727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7780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0" y="17780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8288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0" y="18288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8796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0" y="18796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9304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0" y="19304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9812000" y="0"/>
            <a:ext cx="6350" cy="68580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0" y="19812000"/>
            <a:ext cx="12191695" cy="635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4400" y="457200"/>
            <a:ext cx="10362895" cy="3200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0" b="1">
                <a:solidFill>
                  <a:srgbClr val="E8ECF2"/>
                </a:solidFill>
                <a:latin typeface="Consolas"/>
              </a:defRPr>
            </a:pPr>
            <a:r>
              <a:t>?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600" b="1">
                <a:solidFill>
                  <a:srgbClr val="0A1E46"/>
                </a:solidFill>
                <a:latin typeface="Arial"/>
              </a:defRPr>
            </a:pPr>
            <a:r>
              <a:t>感谢聆听 · 欢迎交流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4400" y="3931920"/>
            <a:ext cx="10362895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3A4A6A"/>
                </a:solidFill>
                <a:latin typeface="Arial"/>
              </a:defRPr>
            </a:pPr>
            <a:r>
              <a:t>AI 基础设施正经历百年一遇的架构变革，每一个环节都值得深入跟踪。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00400" y="4754880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090A8"/>
                </a:solidFill>
                <a:latin typeface="Consolas"/>
              </a:defRPr>
            </a:pPr>
            <a:r>
              <a:t>📧  ai-research@example.com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54880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8090A8"/>
                </a:solidFill>
                <a:latin typeface="Consolas"/>
              </a:defRPr>
            </a:pPr>
            <a:r>
              <a:t>📊  数据截止 2026.Q2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4400" y="521208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8090A8"/>
                </a:solidFill>
                <a:latin typeface="Consolas"/>
              </a:defRPr>
            </a:pPr>
            <a:r>
              <a:t>Thank You · Questions &amp; Discussion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545775" y="63093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8090A8"/>
                </a:solidFill>
                <a:latin typeface="Consolas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